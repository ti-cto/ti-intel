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7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FFFFFF"/>
                </a:solidFill>
                <a:latin typeface="Pretendard"/>
              </a:defRPr>
            </a:pPr>
            <a:r>
              <a:t>WTIS Proposal Report: Self Evolving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291840"/>
            <a:ext cx="1828800" cy="50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0"/>
            <a:ext cx="76200" cy="2743200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Pretendard"/>
              </a:defRPr>
            </a:pPr>
            <a:r>
              <a:t>경영진 요약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0">
                <a:solidFill>
                  <a:srgbClr val="E879F9"/>
                </a:solidFill>
                <a:latin typeface="Pretendard"/>
              </a:defRPr>
            </a:pPr>
            <a: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i="1">
                <a:solidFill>
                  <a:srgbClr val="F1F5F9"/>
                </a:solidFill>
                <a:latin typeface="Pretendard"/>
              </a:defRPr>
            </a:pPr>
            <a:r>
              <a:t>**추천: Build + Borrow 하이브리드** (신뢰도: Medium)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Pretendard"/>
              </a:defRPr>
            </a:pPr>
            <a:r>
              <a:t>경영진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F1F5F9"/>
                </a:solidFill>
                <a:latin typeface="Pretendard"/>
              </a:defRPr>
            </a:pPr>
            <a:r>
              <a:t>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0">
                <a:solidFill>
                  <a:srgbClr val="E879F9"/>
                </a:solidFill>
                <a:latin typeface="Pretendard"/>
              </a:defRPr>
            </a:pPr>
            <a: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i="1">
                <a:solidFill>
                  <a:srgbClr val="F1F5F9"/>
                </a:solidFill>
                <a:latin typeface="Pretendard"/>
              </a:defRPr>
            </a:pPr>
            <a:r>
              <a:t>"Self Evolving Agent"는 LG U+의 AICC 사업에서 KT(국내 선두) 및 글로벌 플레이어(Genesys, NICE, Amazon) 대비 차별화할 수 있는 전략적 과제이나, **과제 제안서의 KPI가 정량화되지 않아 SMART 기준 3/5 미충족**으로 착수 전 재설계가 필수적이다.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Pretendard"/>
              </a:defRPr>
            </a:pPr>
            <a:r>
              <a:t>경영진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F1F5F9"/>
                </a:solidFill>
                <a:latin typeface="Pretendard"/>
              </a:defRPr>
            </a:pPr>
            <a:r>
              <a:t>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0">
                <a:solidFill>
                  <a:srgbClr val="E879F9"/>
                </a:solidFill>
                <a:latin typeface="Pretendard"/>
              </a:defRPr>
            </a:pPr>
            <a: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i="1">
                <a:solidFill>
                  <a:srgbClr val="F1F5F9"/>
                </a:solidFill>
                <a:latin typeface="Pretendard"/>
              </a:defRPr>
            </a:pPr>
            <a:r>
              <a:t>핵심 기술인 "자가 진화"는 RAG 자동 업데이트(TRL 8-9, 즉시 구현 가능)부터 완전 자율 학습(TRL 3-4, 학술 실험 수준)까지 스펙트럼이 넓다. **즉시 상용화 가능한 RAG + LLM-as-Judge는 Build로 내재화하고, 미성숙 기술(Continual Fine-tuning, RLHF)은 산학 협력 Borrow로 접근하는 단계적 전략**을 권고한다.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Pretendard"/>
              </a:defRPr>
            </a:pPr>
            <a:r>
              <a:t>경영진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F1F5F9"/>
                </a:solidFill>
                <a:latin typeface="Pretendard"/>
              </a:defRPr>
            </a:pPr>
            <a:r>
              <a:t>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0">
                <a:solidFill>
                  <a:srgbClr val="E879F9"/>
                </a:solidFill>
                <a:latin typeface="Pretendard"/>
              </a:defRPr>
            </a:pPr>
            <a: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i="1">
                <a:solidFill>
                  <a:srgbClr val="F1F5F9"/>
                </a:solidFill>
                <a:latin typeface="Pretendard"/>
              </a:defRPr>
            </a:pPr>
            <a:r>
              <a:t>금융권 망분리 규제 완화(2024 로드맵)와 AI 기본법(2026.1 시행)이 맞물려, **"자가 진화 + 금융 컴플라이언스 특화"라는 이중 차별화**가 5대 시중은행 수주의 핵심 포지셔닝이다.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0"/>
            <a:ext cx="76200" cy="2743200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Pretendard"/>
              </a:defRPr>
            </a:pPr>
            <a:r>
              <a:t>1. 과제 개요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Pretendard"/>
              </a:defRPr>
            </a:pPr>
            <a:r>
              <a:t>1. 과제 개요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4327"/>
                <a:gridCol w="5364328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항목</a:t>
                      </a:r>
                    </a:p>
                  </a:txBody>
                  <a:tcPr anchor="ctr">
                    <a:solidFill>
                      <a:srgbClr val="E87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내용</a:t>
                      </a:r>
                    </a:p>
                  </a:txBody>
                  <a:tcPr anchor="ctr">
                    <a:solidFill>
                      <a:srgbClr val="E879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과제명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Self Evolving Agent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기술 도메인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AICC (AI Contact Center) — AI/Data + B2B/Enterprise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타겟 고객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콜봇, 상담 어드바이저, 고객센터, 5대 시중은행 B2B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목표 KPI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고객센터 운영 효율성 향상 → B2B 구축형 AICC 수주 경쟁력 상승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예산/타임라인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**미명시** (재설계 필요)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Pretendard"/>
              </a:defRPr>
            </a:pPr>
            <a:r>
              <a:t>1. 과제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F1F5F9"/>
                </a:solidFill>
                <a:latin typeface="Pretendard"/>
              </a:defRPr>
            </a:pPr>
            <a:r>
              <a:t>핵심 Pain Point (유추)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Pretendard"/>
              </a:defRPr>
            </a:pPr>
            <a:r>
              <a:t>1. 과제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1F5F9"/>
                </a:solidFill>
                <a:latin typeface="Pretendard"/>
              </a:defRPr>
            </a:pPr>
            <a:r>
              <a:rPr sz="1600"/>
              <a:t>•  기존 AICC의 고정 시나리오 한계 → 수동 업데이트 비용</a:t>
            </a:r>
          </a:p>
          <a:p>
            <a:pPr>
              <a:spcAft>
                <a:spcPts val="800"/>
              </a:spcAft>
              <a:defRPr sz="1600">
                <a:solidFill>
                  <a:srgbClr val="F1F5F9"/>
                </a:solidFill>
                <a:latin typeface="Pretendard"/>
              </a:defRPr>
            </a:pPr>
            <a:r>
              <a:rPr sz="1600"/>
              <a:t>•  LLM 기반 응답 생성은 이미 시장 표준 → "진화" 능력이 차기 차별화 포인트</a:t>
            </a:r>
          </a:p>
          <a:p>
            <a:pPr>
              <a:spcAft>
                <a:spcPts val="800"/>
              </a:spcAft>
              <a:defRPr sz="1600">
                <a:solidFill>
                  <a:srgbClr val="F1F5F9"/>
                </a:solidFill>
                <a:latin typeface="Pretendard"/>
              </a:defRPr>
            </a:pPr>
            <a:r>
              <a:rPr sz="1600"/>
              <a:t>•  금융권의 높은 정확도·컴플라이언스·설명 가능성 요구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0"/>
            <a:ext cx="76200" cy="2743200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Pretendard"/>
              </a:defRPr>
            </a:pPr>
            <a:r>
              <a:t>2. 기술 분석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Pretendard"/>
              </a:defRPr>
            </a:pPr>
            <a:r>
              <a:t>2. 기술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F1F5F9"/>
                </a:solidFill>
                <a:latin typeface="Pretendard"/>
              </a:defRPr>
            </a:pPr>
            <a:r>
              <a:t>"Self Evolving"의 기술 성숙도 스펙트럼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Pretendard"/>
              </a:defRPr>
            </a:pPr>
            <a:r>
              <a:t>2. 기술 분석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기술 요소</a:t>
                      </a:r>
                    </a:p>
                  </a:txBody>
                  <a:tcPr anchor="ctr">
                    <a:solidFill>
                      <a:srgbClr val="E87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TRL</a:t>
                      </a:r>
                    </a:p>
                  </a:txBody>
                  <a:tcPr anchor="ctr">
                    <a:solidFill>
                      <a:srgbClr val="E87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상용화 상태</a:t>
                      </a:r>
                    </a:p>
                  </a:txBody>
                  <a:tcPr anchor="ctr">
                    <a:solidFill>
                      <a:srgbClr val="E87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전략</a:t>
                      </a:r>
                    </a:p>
                  </a:txBody>
                  <a:tcPr anchor="ctr">
                    <a:solidFill>
                      <a:srgbClr val="E879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RAG 자동 업데이트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8-9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다수 상용 배포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**Build** (즉시)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LLM-as-Judge 자동 수정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7-8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Google CCAI 통합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**Build** (0-6개월)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Override/Escalation 피드백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7-8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업계 표준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**Build** (기존)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Continual Fine-tuning (LoRA)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5-6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실험 단계, forgetting 미해결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**Borrow** (산학 협력)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Closed-loop RLHF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4-5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프로덕션 사례 극소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**Borrow** (파일럿)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완전 자율 Workflow Update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3-4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학술 실험 수준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**Watch**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Pretendard"/>
              </a:defRPr>
            </a:pPr>
            <a:r>
              <a:t>2. 기술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F1F5F9"/>
                </a:solidFill>
                <a:latin typeface="Pretendard"/>
              </a:defRPr>
            </a:pPr>
            <a:r>
              <a:t>**학술 동향**: "Self-Evolving Agent" 개념의 첫 종합 서베이가 2025년 7-8월에야 arXiv에 등장 [1][2]. EvoAgent [3], AgentEvolver [4] 등 구현 연구도 게임/범용 환경 중심으로 AICC 특화 적용은 미확인.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Pretendard"/>
              </a:defRPr>
            </a:pPr>
            <a:r>
              <a:t>2. 기술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F1F5F9"/>
                </a:solidFill>
                <a:latin typeface="Pretendard"/>
              </a:defRPr>
            </a:pPr>
            <a:r>
              <a:t>4사분면 배치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Pretendard"/>
              </a:defRPr>
            </a:pPr>
            <a:r>
              <a:t>```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F1F5F9"/>
                </a:solidFill>
                <a:latin typeface="Pretendard"/>
              </a:defRPr>
            </a:pPr>
            <a:r>
              <a:t>High Disruption</a:t>
            </a:r>
            <a:br/>
            <a:r>
              <a:t>│</a:t>
            </a:r>
            <a:br/>
            <a:r>
              <a:t>[베팅]          │          [탐색]</a:t>
            </a:r>
            <a:br/>
            <a:r>
              <a:t>RAG 자동 업데이트 │    Closed-loop RLHF</a:t>
            </a:r>
            <a:br/>
            <a:r>
              <a:t>LLM-as-Judge    │    완전 자율 진화</a:t>
            </a:r>
            <a:br/>
            <a:r>
              <a:t>│</a:t>
            </a:r>
            <a:br/>
            <a:r>
              <a:t>────────────────────┼────────────────────</a:t>
            </a:r>
            <a:br/>
            <a:r>
              <a:t>High TRL        │         Low TRL</a:t>
            </a:r>
            <a:br/>
            <a:r>
              <a:t>│</a:t>
            </a:r>
            <a:br/>
            <a:r>
              <a:t>[유지]          │          [Watch]</a:t>
            </a:r>
            <a:br/>
            <a:r>
              <a:t>Override/       │    Continual Fine-tuning</a:t>
            </a:r>
            <a:br/>
            <a:r>
              <a:t>Escalation      │    (LoRA + forgetting 완화)</a:t>
            </a:r>
            <a:br/>
            <a:r>
              <a:t>│</a:t>
            </a:r>
            <a:br/>
            <a:r>
              <a:t>Low Disruption</a:t>
            </a:r>
            <a:br/>
            <a:r>
              <a:t>```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0"/>
            <a:ext cx="76200" cy="2743200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Pretendard"/>
              </a:defRPr>
            </a:pPr>
            <a:r>
              <a:t>3. 경쟁사 현황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Pretendard"/>
              </a:defRPr>
            </a:pPr>
            <a:r>
              <a:t>3. 경쟁사 현황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F1F5F9"/>
                </a:solidFill>
                <a:latin typeface="Pretendard"/>
              </a:defRPr>
            </a:pPr>
            <a:r>
              <a:t>국내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Pretendard"/>
              </a:defRPr>
            </a:pPr>
            <a:r>
              <a:t>3. 경쟁사 현황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경쟁사</a:t>
                      </a:r>
                    </a:p>
                  </a:txBody>
                  <a:tcPr anchor="ctr">
                    <a:solidFill>
                      <a:srgbClr val="E87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현황</a:t>
                      </a:r>
                    </a:p>
                  </a:txBody>
                  <a:tcPr anchor="ctr">
                    <a:solidFill>
                      <a:srgbClr val="E87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자가 진화 기능</a:t>
                      </a:r>
                    </a:p>
                  </a:txBody>
                  <a:tcPr anchor="ctr">
                    <a:solidFill>
                      <a:srgbClr val="E87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출처</a:t>
                      </a:r>
                    </a:p>
                  </a:txBody>
                  <a:tcPr anchor="ctr">
                    <a:solidFill>
                      <a:srgbClr val="E879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**KT**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국내 AICC 선두 (2017~), A'Cen 서비스, 마이K 에이전트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자율 학습 메커니즘 비공개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[14][15][16]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**SKT**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텔코 LLM (519B), MWC 2026 Agentic AICC 전시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iterative RL 언급, 상세 비공개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[11][12][13]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**네이버클라우드**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CLOVA AiCall, 롯데카드 40% 절감 실적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자율 학습 미공개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[17][18]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**카카오**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CenterFlow AICC, 카나나 모델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자율 학습 미공개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[19][20]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Pretendard"/>
              </a:defRPr>
            </a:pPr>
            <a:r>
              <a:t>3. 경쟁사 현황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F1F5F9"/>
                </a:solidFill>
                <a:latin typeface="Pretendard"/>
              </a:defRPr>
            </a:pPr>
            <a:r>
              <a:t>글로벌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Pretendard"/>
              </a:defRPr>
            </a:pPr>
            <a:r>
              <a:t>3. 경쟁사 현황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경쟁사</a:t>
                      </a:r>
                    </a:p>
                  </a:txBody>
                  <a:tcPr anchor="ctr">
                    <a:solidFill>
                      <a:srgbClr val="E87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주요 성과</a:t>
                      </a:r>
                    </a:p>
                  </a:txBody>
                  <a:tcPr anchor="ctr">
                    <a:solidFill>
                      <a:srgbClr val="E87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출처</a:t>
                      </a:r>
                    </a:p>
                  </a:txBody>
                  <a:tcPr anchor="ctr">
                    <a:solidFill>
                      <a:srgbClr val="E879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**Genesys**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업계 최초 LAM 기반 Agentic Virtual Agent (2026.2.10 발표)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[22]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**NICE**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Cognigy 인수로 에이전틱 AI 포트폴리오 완성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[23]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**Amazon**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Connect 에이전틱 기능 확대, re:Invent 2025 발표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[21]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**Google**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CCAI에 LLM-as-Judge 기반 실시간 자동 수정 루프 통합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[9]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Pretendard"/>
              </a:defRPr>
            </a:pPr>
            <a:r>
              <a:t>3. 경쟁사 현황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F1F5F9"/>
                </a:solidFill>
                <a:latin typeface="Pretendard"/>
              </a:defRPr>
            </a:pPr>
            <a:r>
              <a:t>LG U+ 포지션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Pretendard"/>
              </a:defRPr>
            </a:pPr>
            <a:r>
              <a:t>3. 경쟁사 현황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1F5F9"/>
                </a:solidFill>
                <a:latin typeface="Pretendard"/>
              </a:defRPr>
            </a:pPr>
            <a:r>
              <a:rPr sz="1600"/>
              <a:t>•  **KT 대비**: 약 3-5년 격차 (레퍼런스·점유율)</a:t>
            </a:r>
          </a:p>
          <a:p>
            <a:pPr>
              <a:spcAft>
                <a:spcPts val="800"/>
              </a:spcAft>
              <a:defRPr sz="1600">
                <a:solidFill>
                  <a:srgbClr val="F1F5F9"/>
                </a:solidFill>
                <a:latin typeface="Pretendard"/>
              </a:defRPr>
            </a:pPr>
            <a:r>
              <a:rPr sz="1600"/>
              <a:t>•  **SKT 대비**: 약 1-2년 격차 (기술 내재화)</a:t>
            </a:r>
          </a:p>
          <a:p>
            <a:pPr>
              <a:spcAft>
                <a:spcPts val="800"/>
              </a:spcAft>
              <a:defRPr sz="1600">
                <a:solidFill>
                  <a:srgbClr val="F1F5F9"/>
                </a:solidFill>
                <a:latin typeface="Pretendard"/>
              </a:defRPr>
            </a:pPr>
            <a:r>
              <a:rPr sz="1600"/>
              <a:t>•  **글로벌 대비**: 약 2-3년 격차 (상용화·투자 규모)</a:t>
            </a:r>
          </a:p>
          <a:p>
            <a:pPr>
              <a:spcAft>
                <a:spcPts val="800"/>
              </a:spcAft>
              <a:defRPr sz="1600">
                <a:solidFill>
                  <a:srgbClr val="F1F5F9"/>
                </a:solidFill>
                <a:latin typeface="Pretendard"/>
              </a:defRPr>
            </a:pPr>
            <a:r>
              <a:rPr sz="1600"/>
              <a:t>•  **차별화 기회**: 금융 컴플라이언스 특화 (망분리 규제 + 한국어 + 로컬 지원)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0"/>
            <a:ext cx="76200" cy="2743200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Pretendard"/>
              </a:defRPr>
            </a:pPr>
            <a:r>
              <a:t>4. 시장 데이터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Pretendard"/>
              </a:defRPr>
            </a:pPr>
            <a:r>
              <a:t>4. 시장 데이터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지표</a:t>
                      </a:r>
                    </a:p>
                  </a:txBody>
                  <a:tcPr anchor="ctr">
                    <a:solidFill>
                      <a:srgbClr val="E87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수치</a:t>
                      </a:r>
                    </a:p>
                  </a:txBody>
                  <a:tcPr anchor="ctr">
                    <a:solidFill>
                      <a:srgbClr val="E87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출처</a:t>
                      </a:r>
                    </a:p>
                  </a:txBody>
                  <a:tcPr anchor="ctr">
                    <a:solidFill>
                      <a:srgbClr val="E87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신뢰도</a:t>
                      </a:r>
                    </a:p>
                  </a:txBody>
                  <a:tcPr anchor="ctr">
                    <a:solidFill>
                      <a:srgbClr val="E879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글로벌 콜센터 AI TAM (2030)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USD 10.07B ~ 11.80B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Fortune BI / Mordor Intelligence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[B]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국내 AICC 시장 (2030)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USD 350M / ~4,546억원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얼라이드마켓리서치 via 핀포인트뉴스 [15]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[B]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국내 AICC 시장 (2025 추정)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~1,650억원 (CAGR 23.7% 역산)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교차검증 결과 [SKILL-5]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[B]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국내 AICC CAGR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23.7%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얼라이드마켓리서치 [15]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[B]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LG U+ AICC 매출 목표 (2028)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3,000억원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Goover [14]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[C]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0">
                <a:solidFill>
                  <a:srgbClr val="E879F9"/>
                </a:solidFill>
                <a:latin typeface="Pretendard"/>
              </a:defRPr>
            </a:pPr>
            <a: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i="1">
                <a:solidFill>
                  <a:srgbClr val="F1F5F9"/>
                </a:solidFill>
                <a:latin typeface="Pretendard"/>
              </a:defRPr>
            </a:pPr>
            <a:r>
              <a:t>**교차검증 주의**: SKILL-1의 원래 SAM 수치(4,815억원)는 2030년 목표값과 혼동된 것으로 SKILL-5에서 지적됨. 위 표는 수정된 수치를 반영.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Pretendard"/>
              </a:defRPr>
            </a:pPr>
            <a:r>
              <a:t>4. 시장 데이터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F1F5F9"/>
                </a:solidFill>
                <a:latin typeface="Pretendard"/>
              </a:defRPr>
            </a:pPr>
            <a:r>
              <a:t>시장 촉매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Pretendard"/>
              </a:defRPr>
            </a:pPr>
            <a:r>
              <a:t>4. 시장 데이터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1F5F9"/>
                </a:solidFill>
                <a:latin typeface="Pretendard"/>
              </a:defRPr>
            </a:pPr>
            <a:r>
              <a:rPr sz="1600"/>
              <a:t>•  **금융위 망분리 개선 로드맵** (2024.8 발표) → 금융권 SaaS AICC 장벽 완화 [26]</a:t>
            </a:r>
          </a:p>
          <a:p>
            <a:pPr>
              <a:spcAft>
                <a:spcPts val="800"/>
              </a:spcAft>
              <a:defRPr sz="1600">
                <a:solidFill>
                  <a:srgbClr val="F1F5F9"/>
                </a:solidFill>
                <a:latin typeface="Pretendard"/>
              </a:defRPr>
            </a:pPr>
            <a:r>
              <a:rPr sz="1600"/>
              <a:t>•  **AI 기본법** (2026.1 시행) → 단순 보조 AICC는 규제 대상 외, 자율 판단 확대 시 XAI 요건 충족 필수 [28]</a:t>
            </a:r>
          </a:p>
          <a:p>
            <a:pPr>
              <a:spcAft>
                <a:spcPts val="800"/>
              </a:spcAft>
              <a:defRPr sz="1600">
                <a:solidFill>
                  <a:srgbClr val="F1F5F9"/>
                </a:solidFill>
                <a:latin typeface="Pretendard"/>
              </a:defRPr>
            </a:pPr>
            <a:r>
              <a:rPr sz="1600"/>
              <a:t>•  **은행권 AI·SaaS 도입 가속** (2026.1 보도) → 5대 시중은행 AICC 발주 본격화 예상 [30]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0"/>
            <a:ext cx="76200" cy="2743200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Pretendard"/>
              </a:defRPr>
            </a:pPr>
            <a:r>
              <a:t>5. 3B 전략 권고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Pretendard"/>
              </a:defRPr>
            </a:pPr>
            <a:r>
              <a:t>5. 3B 전략 권고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F1F5F9"/>
                </a:solidFill>
                <a:latin typeface="Pretendard"/>
              </a:defRPr>
            </a:pPr>
            <a:r>
              <a:t>Build + Borrow 하이브리드 (Build 60% / Borrow 30% / Watch 10%)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Pretendard"/>
              </a:defRPr>
            </a:pPr>
            <a:r>
              <a:t>5. 3B 전략 권고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영역</a:t>
                      </a:r>
                    </a:p>
                  </a:txBody>
                  <a:tcPr anchor="ctr">
                    <a:solidFill>
                      <a:srgbClr val="E87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전략</a:t>
                      </a:r>
                    </a:p>
                  </a:txBody>
                  <a:tcPr anchor="ctr">
                    <a:solidFill>
                      <a:srgbClr val="E87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기간</a:t>
                      </a:r>
                    </a:p>
                  </a:txBody>
                  <a:tcPr anchor="ctr">
                    <a:solidFill>
                      <a:srgbClr val="E87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근거</a:t>
                      </a:r>
                    </a:p>
                  </a:txBody>
                  <a:tcPr anchor="ctr">
                    <a:solidFill>
                      <a:srgbClr val="E879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RAG 자동 업데이트 + LLM-as-Judge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**Build**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0-6개월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TRL 7-9, 즉시 구현 가능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금융 컴플라이언스 모듈 (XAI)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**Build**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3-6개월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글로벌 솔루션이 국내 규제 특화 어려움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Continual Fine-tuning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**Borrow**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6-18개월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TRL 5-6, 산학 협력 (forgetting 해결 필요)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RLHF from Contact Logs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**Borrow**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12-24개월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TRL 4-5, 파일럿 수준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완전 자율 진화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**Watch**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24개월+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TRL 3-4, 학술 수준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Pretendard"/>
              </a:defRPr>
            </a:pPr>
            <a:r>
              <a:t>5. 3B 전략 권고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F1F5F9"/>
                </a:solidFill>
                <a:latin typeface="Pretendard"/>
              </a:defRPr>
            </a:pPr>
            <a:r>
              <a:t>Buy를 권고하지 않는 이유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Pretendard"/>
              </a:defRPr>
            </a:pPr>
            <a:r>
              <a:t>5. 3B 전략 권고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1F5F9"/>
                </a:solidFill>
                <a:latin typeface="Pretendard"/>
              </a:defRPr>
            </a:pPr>
            <a:r>
              <a:rPr sz="1600"/>
              <a:t>•  국내 "Self Evolving AICC" 전문 벤더 부재</a:t>
            </a:r>
          </a:p>
          <a:p>
            <a:pPr>
              <a:spcAft>
                <a:spcPts val="800"/>
              </a:spcAft>
              <a:defRPr sz="1600">
                <a:solidFill>
                  <a:srgbClr val="F1F5F9"/>
                </a:solidFill>
                <a:latin typeface="Pretendard"/>
              </a:defRPr>
            </a:pPr>
            <a:r>
              <a:rPr sz="1600"/>
              <a:t>•  글로벌 솔루션 인수 규모가 과대 (NICE-Cognigy 수준)</a:t>
            </a:r>
          </a:p>
          <a:p>
            <a:pPr>
              <a:spcAft>
                <a:spcPts val="800"/>
              </a:spcAft>
              <a:defRPr sz="1600">
                <a:solidFill>
                  <a:srgbClr val="F1F5F9"/>
                </a:solidFill>
                <a:latin typeface="Pretendard"/>
              </a:defRPr>
            </a:pPr>
            <a:r>
              <a:rPr sz="1600"/>
              <a:t>•  단, 해외 소규모 스타트업 기술 라이선스는 추가 탐색 권장 [SKILL-5 P3 권고]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0"/>
            <a:ext cx="76200" cy="2743200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Pretendard"/>
              </a:defRPr>
            </a:pPr>
            <a:r>
              <a:t>6. 교차검증 결과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Pretendard"/>
              </a:defRPr>
            </a:pPr>
            <a:r>
              <a:t>6. 교차검증 결과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4327"/>
                <a:gridCol w="5364328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항목</a:t>
                      </a:r>
                    </a:p>
                  </a:txBody>
                  <a:tcPr anchor="ctr">
                    <a:solidFill>
                      <a:srgbClr val="E87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결과</a:t>
                      </a:r>
                    </a:p>
                  </a:txBody>
                  <a:tcPr anchor="ctr">
                    <a:solidFill>
                      <a:srgbClr val="E879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**최종 판정**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**PARTIAL**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검증 클레임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12건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확인됨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4건 + 부분 확인 2건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오류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1건 (SAM 수치 과대 계상 → 본 보고서에서 수정 반영)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미검증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5건 (NICE 인수 금액, Amazon Connect 수치, KT 점유율, CAGR 상한)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Pretendard"/>
              </a:defRPr>
            </a:pPr>
            <a:r>
              <a:t>6. 교차검증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F1F5F9"/>
                </a:solidFill>
                <a:latin typeface="Pretendard"/>
              </a:defRPr>
            </a:pPr>
            <a:r>
              <a:t>주요 검증 결과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Pretendard"/>
              </a:defRPr>
            </a:pPr>
            <a:r>
              <a:t>6. 교차검증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1F5F9"/>
                </a:solidFill>
                <a:latin typeface="Pretendard"/>
              </a:defRPr>
            </a:pPr>
            <a:r>
              <a:rPr sz="1600"/>
              <a:t>•  **확인**: Genesys LAM 발표, 망분리 로드맵, AI 기본법, 네이버클라우드 실적, SKT MWC, arXiv 논문</a:t>
            </a:r>
          </a:p>
          <a:p>
            <a:pPr>
              <a:spcAft>
                <a:spcPts val="800"/>
              </a:spcAft>
              <a:defRPr sz="1600">
                <a:solidFill>
                  <a:srgbClr val="F1F5F9"/>
                </a:solidFill>
                <a:latin typeface="Pretendard"/>
              </a:defRPr>
            </a:pPr>
            <a:r>
              <a:rPr sz="1600"/>
              <a:t>•  **오류 수정**: SAM 4,815억원 → ~1,650억원 (2025년 역산값)으로 수정</a:t>
            </a:r>
          </a:p>
          <a:p>
            <a:pPr>
              <a:spcAft>
                <a:spcPts val="800"/>
              </a:spcAft>
              <a:defRPr sz="1600">
                <a:solidFill>
                  <a:srgbClr val="F1F5F9"/>
                </a:solidFill>
                <a:latin typeface="Pretendard"/>
              </a:defRPr>
            </a:pPr>
            <a:r>
              <a:rPr sz="1600"/>
              <a:t>•  **미검증 주의**: KT 69% 점유율, NICE $955M 인수 금액은 독립 확인 불가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0"/>
            <a:ext cx="76200" cy="2743200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Pretendard"/>
              </a:defRPr>
            </a:pPr>
            <a:r>
              <a:t>7. 리스크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Pretendard"/>
              </a:defRPr>
            </a:pPr>
            <a:r>
              <a:t>7. 리스크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리스크</a:t>
                      </a:r>
                    </a:p>
                  </a:txBody>
                  <a:tcPr anchor="ctr">
                    <a:solidFill>
                      <a:srgbClr val="E87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확률</a:t>
                      </a:r>
                    </a:p>
                  </a:txBody>
                  <a:tcPr anchor="ctr">
                    <a:solidFill>
                      <a:srgbClr val="E87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영향</a:t>
                      </a:r>
                    </a:p>
                  </a:txBody>
                  <a:tcPr anchor="ctr">
                    <a:solidFill>
                      <a:srgbClr val="E87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대응</a:t>
                      </a:r>
                    </a:p>
                  </a:txBody>
                  <a:tcPr anchor="ctr">
                    <a:solidFill>
                      <a:srgbClr val="E879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KPI 미구체화로 R&amp;D 방향 표류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**H**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**H**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착수 전 SMART KPI 재설계 필수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Continual fine-tuning forgetting 미해결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M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H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RAG+Judge 우선, learning은 별도 R&amp;D 트랙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KT 금융권 시장 선점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**H**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**H**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금융 컴플라이언스 특화로 차별화 + 중소 금융사 우선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글로벌 솔루션 국내 직접 진출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M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M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망분리·한국어·로컬 지원이 진입 장벽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"Self Evolving" 기술적 실체 부족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**H**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**H**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단계적 브랜딩: Phase 1 "Learning Agent" → Phase 2 "Evolving Agent"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0"/>
            <a:ext cx="76200" cy="2743200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Pretendard"/>
              </a:defRPr>
            </a:pPr>
            <a:r>
              <a:t>8. 권고 및 Next Action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Pretendard"/>
              </a:defRPr>
            </a:pPr>
            <a:r>
              <a:t>8. 권고 및 Next Action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단계</a:t>
                      </a:r>
                    </a:p>
                  </a:txBody>
                  <a:tcPr anchor="ctr">
                    <a:solidFill>
                      <a:srgbClr val="E87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기간</a:t>
                      </a:r>
                    </a:p>
                  </a:txBody>
                  <a:tcPr anchor="ctr">
                    <a:solidFill>
                      <a:srgbClr val="E87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액션</a:t>
                      </a:r>
                    </a:p>
                  </a:txBody>
                  <a:tcPr anchor="ctr">
                    <a:solidFill>
                      <a:srgbClr val="E87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담당</a:t>
                      </a:r>
                    </a:p>
                  </a:txBody>
                  <a:tcPr anchor="ctr">
                    <a:solidFill>
                      <a:srgbClr val="E879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**0**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즉시 (1주)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SMART KPI 재설계: AHT 감소율, 자동화율, 수주 건수 등 정량 목표 확정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과제 PM + 전략팀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**1**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0-3개월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Build Phase 1: RAG 자동 업데이트 + LLM-as-Judge PoC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AI Lab + AICC 사업부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**2**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0-3개월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Borrow 파트너 쇼트리스트: Continual learning 공동연구 파트너 탐색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CTO실 + 산학협력팀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**3**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3-6개월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금융 컴플라이언스 모듈 설계 (AI 기본법 + 금융보안원 가이드라인 매핑)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AI Lab + 법무팀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**4**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3-6개월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중소 금융사 1-2사 PoC → "Learning Agent" 레퍼런스 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영업 + AICC 사업부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**5**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6-12개월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Continual fine-tuning 파일럿 (LoRA + forgetting 완화 실험)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AI Lab + 공동연구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**6**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12-18개월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5대 시중은행 RFP 대응: "Self Evolving Agent" 풀 패키지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AICC 사업부 + 전략팀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0"/>
            <a:ext cx="76200" cy="2743200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Pretendard"/>
              </a:defRPr>
            </a:pPr>
            <a:r>
              <a:t>References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Pretendard"/>
              </a:defRPr>
            </a:pPr>
            <a:r>
              <a:t>References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19878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E87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출처</a:t>
                      </a:r>
                    </a:p>
                  </a:txBody>
                  <a:tcPr anchor="ctr">
                    <a:solidFill>
                      <a:srgbClr val="E87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URL</a:t>
                      </a:r>
                    </a:p>
                  </a:txBody>
                  <a:tcPr anchor="ctr">
                    <a:solidFill>
                      <a:srgbClr val="E87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발행일</a:t>
                      </a:r>
                    </a:p>
                  </a:txBody>
                  <a:tcPr anchor="ctr">
                    <a:solidFill>
                      <a:srgbClr val="E87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신뢰도</a:t>
                      </a:r>
                    </a:p>
                  </a:txBody>
                  <a:tcPr anchor="ctr">
                    <a:solidFill>
                      <a:srgbClr val="E879F9"/>
                    </a:solidFill>
                  </a:tcPr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[1]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arXiv: Comprehensive Survey of Self-Evolving AI Agents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https://arxiv.org/abs/2508.07407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2025-08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[A]</a:t>
                      </a:r>
                    </a:p>
                  </a:txBody>
                  <a:tcPr anchor="ctr"/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[2]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arXiv: A Survey of Self-Evolving Agents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https://arxiv.org/abs/2507.21046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2025-07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[A]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[3]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arXiv: EvoAgent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https://arxiv.org/abs/2502.05907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2025-02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[A]</a:t>
                      </a:r>
                    </a:p>
                  </a:txBody>
                  <a:tcPr anchor="ctr"/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[4]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arXiv: AgentEvolver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https://arxiv.org/abs/2511.10395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2025-11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[A]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[6]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ACL 2024: Mitigating Catastrophic Forgetting (SSR)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https://aclanthology.org/2024.acl-long.77/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[A]</a:t>
                      </a:r>
                    </a:p>
                  </a:txBody>
                  <a:tcPr anchor="ctr"/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[9]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Google Cloud: Lessons from 2025 on agents and trust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https://cloud.google.com/transform/ai-grew-up-and-got-a-job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[B]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[11]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SKT 뉴스룸: Telco LLM Customer Service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https://news.sktelecom.com/en/1647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[A]</a:t>
                      </a:r>
                    </a:p>
                  </a:txBody>
                  <a:tcPr anchor="ctr"/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[12]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The Fast Mode: SK Telecom at MWC 2026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https://www.thefastmode.com/technology-solutions/47220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2026-02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[B]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[13]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SKT 뉴스룸: Full-Stack AI at MWC 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https://news.sktelecom.com/en/2742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2026-02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[A]</a:t>
                      </a:r>
                    </a:p>
                  </a:txBody>
                  <a:tcPr anchor="ctr"/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[14]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Goover: 2025년 AICC 시장 경쟁 구도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https://seo.goover.ai/report/202503/go-public-report-ko-53c96b24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2025-03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[C]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[15]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핀포인트뉴스: 통신3사가 콕 찍은 AICC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https://www.pinpointnews.co.kr/news/articleView.html?idxno=213245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[B]</a:t>
                      </a:r>
                    </a:p>
                  </a:txBody>
                  <a:tcPr anchor="ctr"/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[16]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kt cloud 기술 블로그: AI 에이전트 시리즈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https://tech.ktcloud.com/entry/2025-03-ktcloud-ai-agent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2025-03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[B]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[17]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AI타임스: 네이버클라우드 롯데카드 40% 절감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https://www.aitimes.com/news/articleView.html?idxno=170834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[B]</a:t>
                      </a:r>
                    </a:p>
                  </a:txBody>
                  <a:tcPr anchor="ctr"/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[19]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카카오엔터프라이즈: CenterFlow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https://kakaoenterprise.com/press/centerflow-new-brand/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[A]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[20]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카카오: Kanana Model Family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https://www.kakaocorp.com/page/detail/11334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[A]</a:t>
                      </a:r>
                    </a:p>
                  </a:txBody>
                  <a:tcPr anchor="ctr"/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[21]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AWS: Amazon Connect at re:Invent 2025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https://aws.amazon.com/blogs/contact-center/amazon-connect-at-reinvent-2025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2025-11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[A]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[22]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Genesys: LAM Agentic Virtual 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https://www.genesys.com/company/newsroom/announcements/genesys-unveils-industrys-first-agentic-virtual-agent-powered-by-lams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2026-02-10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[A]</a:t>
                      </a:r>
                    </a:p>
                  </a:txBody>
                  <a:tcPr anchor="ctr"/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[23]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NICE: Cognigy Acquisition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https://www.nice.com/press-releases/nice-closes-acquisition-of-cognigy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2025-09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[A]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[26]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금융위: 망분리 개선 로드맵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https://www.fsc.go.kr/no010101/82885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2024-08-13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[A]</a:t>
                      </a:r>
                    </a:p>
                  </a:txBody>
                  <a:tcPr anchor="ctr"/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[27]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금융보안원: AI 보안 가이드라인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https://www.fsec.or.kr/bbs/detail?menuNo=69&amp;bbsNo=11607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[A]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[28]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피카부랩스: AI 기본법 2026 시행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https://peekaboolabs.ai/blog/ai-basic-law-guide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[B]</a:t>
                      </a:r>
                    </a:p>
                  </a:txBody>
                  <a:tcPr anchor="ctr"/>
                </a:tc>
              </a:tr>
              <a:tr h="19879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[30]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전자신문: 은행권 망분리 규제 완화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https://www.etnews.com/20260128000169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2026-01-28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[B]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Pretendard"/>
              </a:defRPr>
            </a:pPr>
            <a:r>
              <a:t>*WTIS v3.0 Proposal Report | 2026-02-24 | AI-generated analysis — 최종 의사결정은 담당자 검토 필요*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F1F5F9"/>
                </a:solidFill>
                <a:latin typeface="Pretendard"/>
              </a:defRPr>
            </a:pPr>
            <a:r>
              <a:t>*교차검증: PARTIAL (SAM 수치 수정 반영, 5건 미검증 주의)*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7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7286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Pretendard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